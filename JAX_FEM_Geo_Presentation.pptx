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248" y="13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152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Explosion 2"/>
          <p:cNvSpPr/>
          <p:nvPr/>
        </p:nvSpPr>
        <p:spPr>
          <a:xfrm rot="900000">
            <a:off x="9144000" y="457200"/>
            <a:ext cx="2743200" cy="2743200"/>
          </a:xfrm>
          <a:prstGeom prst="irregularSeal1">
            <a:avLst/>
          </a:prstGeom>
          <a:solidFill>
            <a:srgbClr val="FF0096"/>
          </a:solidFill>
          <a:ln w="508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4572000" cy="1828800"/>
          </a:xfrm>
          <a:prstGeom prst="rect">
            <a:avLst/>
          </a:prstGeom>
          <a:solidFill>
            <a:srgbClr val="FF0096"/>
          </a:solidFill>
          <a:ln w="1016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  <a:p>
            <a:pPr algn="ctr">
              <a:defRPr sz="6000">
                <a:solidFill>
                  <a:srgbClr val="FFFFFF"/>
                </a:solidFill>
                <a:latin typeface="Arial Black"/>
              </a:defRPr>
            </a:pPr>
            <a:r>
              <a:t>JAX-FEM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2286000"/>
            <a:ext cx="7315200" cy="1828800"/>
          </a:xfrm>
          <a:prstGeom prst="rect">
            <a:avLst/>
          </a:prstGeom>
          <a:solidFill>
            <a:srgbClr val="0000FF"/>
          </a:solidFill>
          <a:ln w="1016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  <a:p>
            <a:pPr algn="ctr">
              <a:defRPr sz="6000">
                <a:solidFill>
                  <a:srgbClr val="FFFFFF"/>
                </a:solidFill>
                <a:latin typeface="Arial Black"/>
              </a:defRPr>
            </a:pPr>
            <a:r>
              <a:t>GEOMECHANICS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572000"/>
            <a:ext cx="12191695" cy="914400"/>
          </a:xfrm>
          <a:prstGeom prst="rect">
            <a:avLst/>
          </a:prstGeom>
          <a:solidFill>
            <a:srgbClr val="FFFF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  <a:p>
            <a:pPr algn="ctr">
              <a:defRPr sz="2400" b="1">
                <a:solidFill>
                  <a:srgbClr val="000000"/>
                </a:solidFill>
                <a:latin typeface="Courier New"/>
              </a:defRPr>
            </a:pPr>
            <a:r>
              <a:t>DIFFERENTIABLE DRUCKER-PRAGER PLASTICITY // ADJOINT SINGULARITY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400">
                <a:solidFill>
                  <a:srgbClr val="000000"/>
                </a:solidFill>
                <a:latin typeface="Arial Black"/>
              </a:defRPr>
            </a:pPr>
            <a:r>
              <a:t>LISHIYAO @ 2025-12-26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152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30803" y="3922381"/>
            <a:ext cx="3657600" cy="3657600"/>
          </a:xfrm>
          <a:prstGeom prst="ellipse">
            <a:avLst/>
          </a:prstGeom>
          <a:solidFill>
            <a:srgbClr val="0000FF"/>
          </a:solidFill>
          <a:ln w="508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10058400" cy="13716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457200"/>
            <a:ext cx="10058400" cy="1371600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  <a:p>
            <a:pPr algn="l">
              <a:defRPr sz="4000" b="1">
                <a:solidFill>
                  <a:srgbClr val="000000"/>
                </a:solidFill>
                <a:latin typeface="Arial Black"/>
              </a:defRPr>
            </a:pPr>
            <a:r>
              <a:t>00 //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12354"/>
            <a:ext cx="10058400" cy="4575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400"/>
              </a:spcAft>
              <a:defRPr sz="2000" b="1">
                <a:solidFill>
                  <a:srgbClr val="000000"/>
                </a:solidFill>
                <a:latin typeface="Courier New"/>
              </a:defRPr>
            </a:pPr>
            <a:r>
              <a:rPr dirty="0"/>
              <a:t>CORE OBJECTIVE:</a:t>
            </a:r>
          </a:p>
          <a:p>
            <a:pPr lvl="1">
              <a:spcAft>
                <a:spcPts val="1400"/>
              </a:spcAft>
              <a:defRPr sz="2000" b="1">
                <a:solidFill>
                  <a:srgbClr val="0000FF"/>
                </a:solidFill>
                <a:latin typeface="Courier New"/>
              </a:defRPr>
            </a:pPr>
            <a:r>
              <a:rPr dirty="0"/>
              <a:t>● Establish &amp; verify nonlinear plastic constitutive model.</a:t>
            </a:r>
          </a:p>
          <a:p>
            <a:pPr lvl="1">
              <a:spcAft>
                <a:spcPts val="1400"/>
              </a:spcAft>
              <a:defRPr sz="2000" b="1">
                <a:solidFill>
                  <a:srgbClr val="0000FF"/>
                </a:solidFill>
                <a:latin typeface="Courier New"/>
              </a:defRPr>
            </a:pPr>
            <a:r>
              <a:rPr dirty="0"/>
              <a:t>● Within fully differentiable computational graph.</a:t>
            </a:r>
          </a:p>
          <a:p>
            <a:pPr>
              <a:spcAft>
                <a:spcPts val="1400"/>
              </a:spcAft>
              <a:defRPr sz="2000" b="1">
                <a:solidFill>
                  <a:srgbClr val="000000"/>
                </a:solidFill>
                <a:latin typeface="Courier New"/>
              </a:defRPr>
            </a:pPr>
            <a:r>
              <a:rPr dirty="0"/>
              <a:t>KEY CHALLENGE:</a:t>
            </a:r>
          </a:p>
          <a:p>
            <a:pPr lvl="1">
              <a:spcAft>
                <a:spcPts val="1400"/>
              </a:spcAft>
              <a:defRPr sz="2000" b="1">
                <a:solidFill>
                  <a:srgbClr val="0000FF"/>
                </a:solidFill>
                <a:latin typeface="Courier New"/>
              </a:defRPr>
            </a:pPr>
            <a:r>
              <a:rPr dirty="0"/>
              <a:t>● Ensuring numerical stability of gradients (AD).</a:t>
            </a:r>
          </a:p>
          <a:p>
            <a:pPr>
              <a:spcAft>
                <a:spcPts val="1400"/>
              </a:spcAft>
              <a:defRPr sz="2000" b="1">
                <a:solidFill>
                  <a:srgbClr val="000000"/>
                </a:solidFill>
                <a:latin typeface="Courier New"/>
              </a:defRPr>
            </a:pPr>
            <a:r>
              <a:rPr dirty="0"/>
              <a:t>JOURNEY:</a:t>
            </a:r>
          </a:p>
          <a:p>
            <a:pPr lvl="1">
              <a:spcAft>
                <a:spcPts val="1400"/>
              </a:spcAft>
              <a:defRPr sz="2000" b="1">
                <a:solidFill>
                  <a:srgbClr val="0000FF"/>
                </a:solidFill>
                <a:latin typeface="Courier New"/>
              </a:defRPr>
            </a:pPr>
            <a:r>
              <a:rPr dirty="0"/>
              <a:t>● Forward Simulation -&gt; CONVERGED</a:t>
            </a:r>
          </a:p>
          <a:p>
            <a:pPr lvl="1">
              <a:spcAft>
                <a:spcPts val="1400"/>
              </a:spcAft>
              <a:defRPr sz="2000" b="1">
                <a:solidFill>
                  <a:srgbClr val="0000FF"/>
                </a:solidFill>
                <a:latin typeface="Courier New"/>
              </a:defRPr>
            </a:pPr>
            <a:r>
              <a:rPr dirty="0"/>
              <a:t>● Backward Propagation -&gt; DIVERGED</a:t>
            </a:r>
          </a:p>
          <a:p>
            <a:pPr lvl="1">
              <a:spcAft>
                <a:spcPts val="1400"/>
              </a:spcAft>
              <a:defRPr sz="2000" b="1">
                <a:solidFill>
                  <a:srgbClr val="0000FF"/>
                </a:solidFill>
                <a:latin typeface="Courier New"/>
              </a:defRPr>
            </a:pPr>
            <a:r>
              <a:rPr dirty="0"/>
              <a:t>● Status -&gt; SOLVED (Mathematical Root Cause Identified)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152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Explosion 2"/>
          <p:cNvSpPr/>
          <p:nvPr/>
        </p:nvSpPr>
        <p:spPr>
          <a:xfrm rot="900000">
            <a:off x="9144000" y="457200"/>
            <a:ext cx="2743200" cy="2743200"/>
          </a:xfrm>
          <a:prstGeom prst="irregularSeal1">
            <a:avLst/>
          </a:prstGeom>
          <a:solidFill>
            <a:srgbClr val="FF0096"/>
          </a:solidFill>
          <a:ln w="508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10058400" cy="13716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457200"/>
            <a:ext cx="10058400" cy="1371600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  <a:p>
            <a:pPr algn="l">
              <a:defRPr sz="4000" b="1">
                <a:solidFill>
                  <a:srgbClr val="000000"/>
                </a:solidFill>
                <a:latin typeface="Arial Black"/>
              </a:defRPr>
            </a:pPr>
            <a:r>
              <a:t>00 //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01812"/>
            <a:ext cx="10058400" cy="4575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400"/>
              </a:spcAft>
              <a:defRPr sz="2000" b="1">
                <a:solidFill>
                  <a:srgbClr val="000000"/>
                </a:solidFill>
                <a:latin typeface="Courier New"/>
              </a:defRPr>
            </a:pPr>
            <a:r>
              <a:rPr dirty="0"/>
              <a:t>CORE OBJECTIVE:</a:t>
            </a:r>
          </a:p>
          <a:p>
            <a:pPr lvl="1">
              <a:spcAft>
                <a:spcPts val="1400"/>
              </a:spcAft>
              <a:defRPr sz="2000" b="1">
                <a:solidFill>
                  <a:srgbClr val="0000FF"/>
                </a:solidFill>
                <a:latin typeface="Courier New"/>
              </a:defRPr>
            </a:pPr>
            <a:r>
              <a:rPr dirty="0"/>
              <a:t>● Establish &amp; verify nonlinear plastic constitutive model.</a:t>
            </a:r>
          </a:p>
          <a:p>
            <a:pPr lvl="1">
              <a:spcAft>
                <a:spcPts val="1400"/>
              </a:spcAft>
              <a:defRPr sz="2000" b="1">
                <a:solidFill>
                  <a:srgbClr val="0000FF"/>
                </a:solidFill>
                <a:latin typeface="Courier New"/>
              </a:defRPr>
            </a:pPr>
            <a:r>
              <a:rPr dirty="0"/>
              <a:t>● Within fully differentiable computational graph.</a:t>
            </a:r>
          </a:p>
          <a:p>
            <a:pPr>
              <a:spcAft>
                <a:spcPts val="1400"/>
              </a:spcAft>
              <a:defRPr sz="2000" b="1">
                <a:solidFill>
                  <a:srgbClr val="000000"/>
                </a:solidFill>
                <a:latin typeface="Courier New"/>
              </a:defRPr>
            </a:pPr>
            <a:r>
              <a:rPr dirty="0"/>
              <a:t>KEY CHALLENGE:</a:t>
            </a:r>
          </a:p>
          <a:p>
            <a:pPr lvl="1">
              <a:spcAft>
                <a:spcPts val="1400"/>
              </a:spcAft>
              <a:defRPr sz="2000" b="1">
                <a:solidFill>
                  <a:srgbClr val="0000FF"/>
                </a:solidFill>
                <a:latin typeface="Courier New"/>
              </a:defRPr>
            </a:pPr>
            <a:r>
              <a:rPr dirty="0"/>
              <a:t>● Ensuring numerical stability of gradients (AD).</a:t>
            </a:r>
          </a:p>
          <a:p>
            <a:pPr>
              <a:spcAft>
                <a:spcPts val="1400"/>
              </a:spcAft>
              <a:defRPr sz="2000" b="1">
                <a:solidFill>
                  <a:srgbClr val="000000"/>
                </a:solidFill>
                <a:latin typeface="Courier New"/>
              </a:defRPr>
            </a:pPr>
            <a:r>
              <a:rPr dirty="0"/>
              <a:t>JOURNEY:</a:t>
            </a:r>
          </a:p>
          <a:p>
            <a:pPr lvl="1">
              <a:spcAft>
                <a:spcPts val="1400"/>
              </a:spcAft>
              <a:defRPr sz="2000" b="1">
                <a:solidFill>
                  <a:srgbClr val="0000FF"/>
                </a:solidFill>
                <a:latin typeface="Courier New"/>
              </a:defRPr>
            </a:pPr>
            <a:r>
              <a:rPr dirty="0"/>
              <a:t>● Forward Simulation -&gt; CONVERGED</a:t>
            </a:r>
          </a:p>
          <a:p>
            <a:pPr lvl="1">
              <a:spcAft>
                <a:spcPts val="1400"/>
              </a:spcAft>
              <a:defRPr sz="2000" b="1">
                <a:solidFill>
                  <a:srgbClr val="0000FF"/>
                </a:solidFill>
                <a:latin typeface="Courier New"/>
              </a:defRPr>
            </a:pPr>
            <a:r>
              <a:rPr dirty="0"/>
              <a:t>● Backward Propagation -&gt; DIVERGED</a:t>
            </a:r>
          </a:p>
          <a:p>
            <a:pPr lvl="1">
              <a:spcAft>
                <a:spcPts val="1400"/>
              </a:spcAft>
              <a:defRPr sz="2000" b="1">
                <a:solidFill>
                  <a:srgbClr val="0000FF"/>
                </a:solidFill>
                <a:latin typeface="Courier New"/>
              </a:defRPr>
            </a:pPr>
            <a:r>
              <a:rPr dirty="0"/>
              <a:t>● Status -&gt; SOLVED (Mathematical Root Cause Identified)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152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Explosion 2"/>
          <p:cNvSpPr/>
          <p:nvPr/>
        </p:nvSpPr>
        <p:spPr>
          <a:xfrm rot="900000">
            <a:off x="9144000" y="457200"/>
            <a:ext cx="2743200" cy="2743200"/>
          </a:xfrm>
          <a:prstGeom prst="irregularSeal1">
            <a:avLst/>
          </a:prstGeom>
          <a:solidFill>
            <a:srgbClr val="FF0096"/>
          </a:solidFill>
          <a:ln w="508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10058400" cy="13716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457200"/>
            <a:ext cx="10058400" cy="1371600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  <a:p>
            <a:pPr algn="l">
              <a:defRPr sz="4000" b="1">
                <a:solidFill>
                  <a:srgbClr val="000000"/>
                </a:solidFill>
                <a:latin typeface="Arial Black"/>
              </a:defRPr>
            </a:pPr>
            <a:r>
              <a:t>0. 引言 (INTRODUCTION)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400"/>
              </a:spcAft>
              <a:defRPr sz="2000" b="1">
                <a:solidFill>
                  <a:srgbClr val="000000"/>
                </a:solidFill>
                <a:latin typeface="Courier New"/>
              </a:defRPr>
            </a:pPr>
            <a:r>
              <a:t>核心目标：在完全可微计算图框架内，建立并验证岩土材料非线性塑性本构模型。</a:t>
            </a:r>
          </a:p>
          <a:p>
            <a:pPr>
              <a:spcAft>
                <a:spcPts val="1400"/>
              </a:spcAft>
              <a:defRPr sz="2000" b="1">
                <a:solidFill>
                  <a:srgbClr val="000000"/>
                </a:solidFill>
                <a:latin typeface="Courier New"/>
              </a:defRPr>
            </a:pPr>
            <a:r>
              <a:t>难点：</a:t>
            </a:r>
          </a:p>
          <a:p>
            <a:pPr lvl="1">
              <a:spcAft>
                <a:spcPts val="1400"/>
              </a:spcAft>
              <a:defRPr sz="2000" b="1">
                <a:solidFill>
                  <a:srgbClr val="0000FF"/>
                </a:solidFill>
                <a:latin typeface="Courier New"/>
              </a:defRPr>
            </a:pPr>
            <a:r>
              <a:t>● 保证自动微分（AD）计算的梯度具有数值稳定性和数学精确性。</a:t>
            </a:r>
          </a:p>
          <a:p>
            <a:pPr>
              <a:spcAft>
                <a:spcPts val="1400"/>
              </a:spcAft>
              <a:defRPr sz="2000" b="1">
                <a:solidFill>
                  <a:srgbClr val="000000"/>
                </a:solidFill>
                <a:latin typeface="Courier New"/>
              </a:defRPr>
            </a:pPr>
            <a:r>
              <a:t>研究历程：</a:t>
            </a:r>
          </a:p>
          <a:p>
            <a:pPr lvl="1">
              <a:spcAft>
                <a:spcPts val="1400"/>
              </a:spcAft>
              <a:defRPr sz="2000" b="1">
                <a:solidFill>
                  <a:srgbClr val="0000FF"/>
                </a:solidFill>
                <a:latin typeface="Courier New"/>
              </a:defRPr>
            </a:pPr>
            <a:r>
              <a:t>● 正向模拟收敛 (Forward Simulation Converged)</a:t>
            </a:r>
          </a:p>
          <a:p>
            <a:pPr lvl="1">
              <a:spcAft>
                <a:spcPts val="1400"/>
              </a:spcAft>
              <a:defRPr sz="2000" b="1">
                <a:solidFill>
                  <a:srgbClr val="0000FF"/>
                </a:solidFill>
                <a:latin typeface="Courier New"/>
              </a:defRPr>
            </a:pPr>
            <a:r>
              <a:t>● 反向传播发散 (Backward Propagation Diverged)</a:t>
            </a:r>
          </a:p>
          <a:p>
            <a:pPr lvl="1">
              <a:spcAft>
                <a:spcPts val="1400"/>
              </a:spcAft>
              <a:defRPr sz="2000" b="1">
                <a:solidFill>
                  <a:srgbClr val="0000FF"/>
                </a:solidFill>
                <a:latin typeface="Courier New"/>
              </a:defRPr>
            </a:pPr>
            <a:r>
              <a:t>● 系统的假设-验证排查，最终定位数学根源。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152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58400" y="5029200"/>
            <a:ext cx="3657600" cy="3657600"/>
          </a:xfrm>
          <a:prstGeom prst="ellipse">
            <a:avLst/>
          </a:prstGeom>
          <a:solidFill>
            <a:srgbClr val="FF0096"/>
          </a:solidFill>
          <a:ln w="508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10058400" cy="13716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457200"/>
            <a:ext cx="10058400" cy="1371600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  <a:p>
            <a:pPr algn="l">
              <a:defRPr sz="4000" b="1">
                <a:solidFill>
                  <a:srgbClr val="000000"/>
                </a:solidFill>
                <a:latin typeface="Arial Black"/>
              </a:defRPr>
            </a:pPr>
            <a:r>
              <a:t>01 // BACKGROUND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400"/>
              </a:spcAft>
              <a:defRPr sz="2000" b="1">
                <a:solidFill>
                  <a:srgbClr val="000000"/>
                </a:solidFill>
                <a:latin typeface="Courier New"/>
              </a:defRPr>
            </a:pPr>
            <a:r>
              <a:t>LIMITATIONS OF TRADITIONAL FEM:</a:t>
            </a:r>
          </a:p>
          <a:p>
            <a:pPr lvl="1">
              <a:spcAft>
                <a:spcPts val="1400"/>
              </a:spcAft>
              <a:defRPr sz="2000" b="1">
                <a:solidFill>
                  <a:srgbClr val="0000FF"/>
                </a:solidFill>
                <a:latin typeface="Courier New"/>
              </a:defRPr>
            </a:pPr>
            <a:r>
              <a:t>● Commercial Soft (Abaqus/Plaxis) -&gt; BLACK BOX.</a:t>
            </a:r>
          </a:p>
          <a:p>
            <a:pPr lvl="1">
              <a:spcAft>
                <a:spcPts val="1400"/>
              </a:spcAft>
              <a:defRPr sz="2000" b="1">
                <a:solidFill>
                  <a:srgbClr val="0000FF"/>
                </a:solidFill>
                <a:latin typeface="Courier New"/>
              </a:defRPr>
            </a:pPr>
            <a:r>
              <a:t>● Inverse Problems -&gt; Finite Difference (Cost: N+1).</a:t>
            </a:r>
          </a:p>
          <a:p>
            <a:pPr>
              <a:spcAft>
                <a:spcPts val="1400"/>
              </a:spcAft>
              <a:defRPr sz="2000" b="1">
                <a:solidFill>
                  <a:srgbClr val="000000"/>
                </a:solidFill>
                <a:latin typeface="Courier New"/>
              </a:defRPr>
            </a:pPr>
            <a:endParaRPr/>
          </a:p>
          <a:p>
            <a:pPr>
              <a:spcAft>
                <a:spcPts val="1400"/>
              </a:spcAft>
              <a:defRPr sz="2000" b="1">
                <a:solidFill>
                  <a:srgbClr val="000000"/>
                </a:solidFill>
                <a:latin typeface="Courier New"/>
              </a:defRPr>
            </a:pPr>
            <a:r>
              <a:t>ADVANTAGE OF DIFFERENTIABLE PHYSICS:</a:t>
            </a:r>
          </a:p>
          <a:p>
            <a:pPr lvl="1">
              <a:spcAft>
                <a:spcPts val="1400"/>
              </a:spcAft>
              <a:defRPr sz="2000" b="1">
                <a:solidFill>
                  <a:srgbClr val="0000FF"/>
                </a:solidFill>
                <a:latin typeface="Courier New"/>
              </a:defRPr>
            </a:pPr>
            <a:r>
              <a:t>● JAX AD (Reverse Mode) -&gt; O(1) Gradient Calculation.</a:t>
            </a:r>
          </a:p>
          <a:p>
            <a:pPr lvl="1">
              <a:spcAft>
                <a:spcPts val="1400"/>
              </a:spcAft>
              <a:defRPr sz="2000" b="1">
                <a:solidFill>
                  <a:srgbClr val="0000FF"/>
                </a:solidFill>
                <a:latin typeface="Courier New"/>
              </a:defRPr>
            </a:pPr>
            <a:r>
              <a:t>● Enables: Data-Driven Constitutive Modeling.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152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Explosion 2"/>
          <p:cNvSpPr/>
          <p:nvPr/>
        </p:nvSpPr>
        <p:spPr>
          <a:xfrm rot="900000">
            <a:off x="9144000" y="457200"/>
            <a:ext cx="2743200" cy="2743200"/>
          </a:xfrm>
          <a:prstGeom prst="irregularSeal1">
            <a:avLst/>
          </a:prstGeom>
          <a:solidFill>
            <a:srgbClr val="0000FF"/>
          </a:solidFill>
          <a:ln w="508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10058400" cy="13716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457200"/>
            <a:ext cx="10058400" cy="1371600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  <a:p>
            <a:pPr algn="l">
              <a:defRPr sz="4000" b="1">
                <a:solidFill>
                  <a:srgbClr val="000000"/>
                </a:solidFill>
                <a:latin typeface="Arial Black"/>
              </a:defRPr>
            </a:pPr>
            <a:r>
              <a:t>02 // THEORY: DRUCKER-PRAGER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05840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400"/>
              </a:spcAft>
              <a:defRPr sz="2000" b="1">
                <a:solidFill>
                  <a:srgbClr val="000000"/>
                </a:solidFill>
                <a:latin typeface="Courier New"/>
              </a:defRPr>
            </a:pPr>
            <a:r>
              <a:rPr dirty="0"/>
              <a:t>MODEL SELECTION: Drucker-Prager (Pressure Dependent).</a:t>
            </a:r>
          </a:p>
          <a:p>
            <a:pPr>
              <a:spcAft>
                <a:spcPts val="1400"/>
              </a:spcAft>
              <a:defRPr sz="2000" b="1">
                <a:solidFill>
                  <a:srgbClr val="000000"/>
                </a:solidFill>
                <a:latin typeface="Courier New"/>
              </a:defRPr>
            </a:pPr>
            <a:r>
              <a:rPr dirty="0"/>
              <a:t>NUMERICAL SINGULARITY:</a:t>
            </a:r>
          </a:p>
          <a:p>
            <a:pPr lvl="1">
              <a:spcAft>
                <a:spcPts val="1400"/>
              </a:spcAft>
              <a:defRPr sz="2000" b="1">
                <a:solidFill>
                  <a:srgbClr val="0000FF"/>
                </a:solidFill>
                <a:latin typeface="Courier New"/>
              </a:defRPr>
            </a:pPr>
            <a:r>
              <a:rPr dirty="0"/>
              <a:t>● Apex Singularity at J2 -&gt; 0.</a:t>
            </a:r>
          </a:p>
          <a:p>
            <a:pPr lvl="1">
              <a:spcAft>
                <a:spcPts val="1400"/>
              </a:spcAft>
              <a:defRPr sz="2000" b="1">
                <a:solidFill>
                  <a:srgbClr val="0000FF"/>
                </a:solidFill>
                <a:latin typeface="Courier New"/>
              </a:defRPr>
            </a:pPr>
            <a:r>
              <a:rPr dirty="0"/>
              <a:t>● Derivative explodes.</a:t>
            </a:r>
          </a:p>
          <a:p>
            <a:pPr>
              <a:spcAft>
                <a:spcPts val="1400"/>
              </a:spcAft>
              <a:defRPr sz="2000" b="1">
                <a:solidFill>
                  <a:srgbClr val="000000"/>
                </a:solidFill>
                <a:latin typeface="Courier New"/>
              </a:defRPr>
            </a:pPr>
            <a:r>
              <a:rPr dirty="0"/>
              <a:t>SOLUTION: HYPERBOLIC SMOOTHING</a:t>
            </a:r>
          </a:p>
          <a:p>
            <a:pPr lvl="1">
              <a:spcAft>
                <a:spcPts val="1400"/>
              </a:spcAft>
              <a:defRPr sz="2000" b="1">
                <a:solidFill>
                  <a:srgbClr val="0000FF"/>
                </a:solidFill>
                <a:latin typeface="Courier New"/>
              </a:defRPr>
            </a:pPr>
            <a:r>
              <a:rPr dirty="0"/>
              <a:t>● f = sqrt(J2 + a^2) + alpha*I1 - k</a:t>
            </a:r>
          </a:p>
          <a:p>
            <a:pPr lvl="1">
              <a:spcAft>
                <a:spcPts val="1400"/>
              </a:spcAft>
              <a:defRPr sz="2000" b="1">
                <a:solidFill>
                  <a:srgbClr val="0000FF"/>
                </a:solidFill>
                <a:latin typeface="Courier New"/>
              </a:defRPr>
            </a:pPr>
            <a:r>
              <a:rPr dirty="0"/>
              <a:t>● Parameter a = 2.5 MPa (1% of Cohesion).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152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58400" y="5029200"/>
            <a:ext cx="3657600" cy="3657600"/>
          </a:xfrm>
          <a:prstGeom prst="ellipse">
            <a:avLst/>
          </a:prstGeom>
          <a:solidFill>
            <a:srgbClr val="FF0096"/>
          </a:solidFill>
          <a:ln w="508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10058400" cy="13716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457200"/>
            <a:ext cx="10058400" cy="1371600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  <a:p>
            <a:pPr algn="l">
              <a:defRPr sz="4000" b="1">
                <a:solidFill>
                  <a:srgbClr val="000000"/>
                </a:solidFill>
                <a:latin typeface="Arial Black"/>
              </a:defRPr>
            </a:pPr>
            <a:r>
              <a:t>02 //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058400" cy="4088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400"/>
              </a:spcAft>
              <a:defRPr sz="2000" b="1">
                <a:solidFill>
                  <a:srgbClr val="000000"/>
                </a:solidFill>
                <a:latin typeface="Courier New"/>
              </a:defRPr>
            </a:pPr>
            <a:r>
              <a:rPr dirty="0"/>
              <a:t>ALGORITHM: Implicit Backward Euler.</a:t>
            </a:r>
          </a:p>
          <a:p>
            <a:pPr>
              <a:spcAft>
                <a:spcPts val="1400"/>
              </a:spcAft>
              <a:defRPr sz="2000" b="1">
                <a:solidFill>
                  <a:srgbClr val="000000"/>
                </a:solidFill>
                <a:latin typeface="Courier New"/>
              </a:defRPr>
            </a:pPr>
            <a:r>
              <a:rPr dirty="0"/>
              <a:t>WORKFLOW:</a:t>
            </a:r>
          </a:p>
          <a:p>
            <a:pPr>
              <a:spcAft>
                <a:spcPts val="1400"/>
              </a:spcAft>
              <a:defRPr sz="2000" b="1">
                <a:solidFill>
                  <a:srgbClr val="000000"/>
                </a:solidFill>
                <a:latin typeface="Courier New"/>
              </a:defRPr>
            </a:pPr>
            <a:r>
              <a:rPr dirty="0"/>
              <a:t>  1. Compute Trial Stress.</a:t>
            </a:r>
          </a:p>
          <a:p>
            <a:pPr>
              <a:spcAft>
                <a:spcPts val="1400"/>
              </a:spcAft>
              <a:defRPr sz="2000" b="1">
                <a:solidFill>
                  <a:srgbClr val="000000"/>
                </a:solidFill>
                <a:latin typeface="Courier New"/>
              </a:defRPr>
            </a:pPr>
            <a:r>
              <a:rPr dirty="0"/>
              <a:t>  2. Evaluate Smooth Yield Function.</a:t>
            </a:r>
          </a:p>
          <a:p>
            <a:pPr>
              <a:spcAft>
                <a:spcPts val="1400"/>
              </a:spcAft>
              <a:defRPr sz="2000" b="1">
                <a:solidFill>
                  <a:srgbClr val="000000"/>
                </a:solidFill>
                <a:latin typeface="Courier New"/>
              </a:defRPr>
            </a:pPr>
            <a:r>
              <a:rPr dirty="0"/>
              <a:t>  3. Return Mapping (Plastic Multiplier).</a:t>
            </a:r>
          </a:p>
          <a:p>
            <a:pPr>
              <a:spcAft>
                <a:spcPts val="1400"/>
              </a:spcAft>
              <a:defRPr sz="2000" b="1">
                <a:solidFill>
                  <a:srgbClr val="000000"/>
                </a:solidFill>
                <a:latin typeface="Courier New"/>
              </a:defRPr>
            </a:pPr>
            <a:r>
              <a:rPr dirty="0"/>
              <a:t>TECH STACK:</a:t>
            </a:r>
          </a:p>
          <a:p>
            <a:pPr lvl="1">
              <a:spcAft>
                <a:spcPts val="1400"/>
              </a:spcAft>
              <a:defRPr sz="2000" b="1">
                <a:solidFill>
                  <a:srgbClr val="0000FF"/>
                </a:solidFill>
                <a:latin typeface="Courier New"/>
              </a:defRPr>
            </a:pPr>
            <a:r>
              <a:rPr dirty="0"/>
              <a:t>● JAX </a:t>
            </a:r>
            <a:r>
              <a:rPr dirty="0" err="1"/>
              <a:t>vmap</a:t>
            </a:r>
            <a:r>
              <a:rPr dirty="0"/>
              <a:t> -&gt; Parallelize 1M+ integration points.</a:t>
            </a:r>
          </a:p>
          <a:p>
            <a:pPr lvl="1">
              <a:spcAft>
                <a:spcPts val="1400"/>
              </a:spcAft>
              <a:defRPr sz="2000" b="1">
                <a:solidFill>
                  <a:srgbClr val="0000FF"/>
                </a:solidFill>
                <a:latin typeface="Courier New"/>
              </a:defRPr>
            </a:pPr>
            <a:r>
              <a:rPr dirty="0"/>
              <a:t>● Branchless programming for differentiability.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152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00238" y="4480560"/>
            <a:ext cx="3657600" cy="3657600"/>
          </a:xfrm>
          <a:prstGeom prst="ellipse">
            <a:avLst/>
          </a:prstGeom>
          <a:solidFill>
            <a:srgbClr val="0000FF"/>
          </a:solidFill>
          <a:ln w="508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10058400" cy="13716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457200"/>
            <a:ext cx="10058400" cy="1371600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  <a:p>
            <a:pPr algn="l">
              <a:defRPr sz="4000" b="1">
                <a:solidFill>
                  <a:srgbClr val="000000"/>
                </a:solidFill>
                <a:latin typeface="Arial Black"/>
              </a:defRPr>
            </a:pPr>
            <a:r>
              <a:t>03 // FORWARD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6400800" cy="3729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400"/>
              </a:spcAft>
              <a:defRPr sz="2000" b="1">
                <a:solidFill>
                  <a:srgbClr val="000000"/>
                </a:solidFill>
                <a:latin typeface="Courier New"/>
              </a:defRPr>
            </a:pPr>
            <a:r>
              <a:rPr dirty="0"/>
              <a:t>METHOD: Semi-analytical Constitutive Driver.</a:t>
            </a:r>
          </a:p>
          <a:p>
            <a:pPr lvl="1">
              <a:spcAft>
                <a:spcPts val="1400"/>
              </a:spcAft>
              <a:defRPr sz="2000" b="1">
                <a:solidFill>
                  <a:srgbClr val="0000FF"/>
                </a:solidFill>
                <a:latin typeface="Courier New"/>
              </a:defRPr>
            </a:pPr>
            <a:r>
              <a:rPr dirty="0"/>
              <a:t>● Grid-independent single point test.</a:t>
            </a:r>
          </a:p>
          <a:p>
            <a:pPr>
              <a:spcAft>
                <a:spcPts val="1400"/>
              </a:spcAft>
              <a:defRPr sz="2000" b="1">
                <a:solidFill>
                  <a:srgbClr val="000000"/>
                </a:solidFill>
                <a:latin typeface="Courier New"/>
              </a:defRPr>
            </a:pPr>
            <a:r>
              <a:rPr dirty="0"/>
              <a:t>RESULTS:</a:t>
            </a:r>
          </a:p>
          <a:p>
            <a:pPr lvl="1">
              <a:spcAft>
                <a:spcPts val="1400"/>
              </a:spcAft>
              <a:defRPr sz="2000" b="1">
                <a:solidFill>
                  <a:srgbClr val="0000FF"/>
                </a:solidFill>
                <a:latin typeface="Courier New"/>
              </a:defRPr>
            </a:pPr>
            <a:r>
              <a:rPr dirty="0"/>
              <a:t>● Elastic Modulus: 70 </a:t>
            </a:r>
            <a:r>
              <a:rPr dirty="0" err="1"/>
              <a:t>GPa</a:t>
            </a:r>
            <a:r>
              <a:rPr dirty="0"/>
              <a:t> (MATCH).</a:t>
            </a:r>
          </a:p>
          <a:p>
            <a:pPr lvl="1">
              <a:spcAft>
                <a:spcPts val="1400"/>
              </a:spcAft>
              <a:defRPr sz="2000" b="1">
                <a:solidFill>
                  <a:srgbClr val="0000FF"/>
                </a:solidFill>
                <a:latin typeface="Courier New"/>
              </a:defRPr>
            </a:pPr>
            <a:r>
              <a:rPr dirty="0"/>
              <a:t>● Plastic Tangent: Error 0.00%.</a:t>
            </a:r>
          </a:p>
          <a:p>
            <a:pPr>
              <a:spcAft>
                <a:spcPts val="1400"/>
              </a:spcAft>
              <a:defRPr sz="2000" b="1">
                <a:solidFill>
                  <a:srgbClr val="000000"/>
                </a:solidFill>
                <a:latin typeface="Courier New"/>
              </a:defRPr>
            </a:pPr>
            <a:r>
              <a:rPr dirty="0"/>
              <a:t>CONCLUSION: Correct Stress Update &amp; Tangent Operator.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7243" y="2782892"/>
            <a:ext cx="3874536" cy="2793023"/>
          </a:xfrm>
          <a:prstGeom prst="rect">
            <a:avLst/>
          </a:prstGeom>
          <a:solidFill>
            <a:srgbClr val="FF0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verification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6699" y="2468880"/>
            <a:ext cx="4783756" cy="2870253"/>
          </a:xfrm>
          <a:prstGeom prst="rect">
            <a:avLst/>
          </a:prstGeom>
          <a:ln w="76200">
            <a:solidFill>
              <a:srgbClr val="000000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152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Explosion 2"/>
          <p:cNvSpPr/>
          <p:nvPr/>
        </p:nvSpPr>
        <p:spPr>
          <a:xfrm rot="900000">
            <a:off x="9144000" y="457200"/>
            <a:ext cx="2743200" cy="2743200"/>
          </a:xfrm>
          <a:prstGeom prst="irregularSeal1">
            <a:avLst/>
          </a:prstGeom>
          <a:solidFill>
            <a:srgbClr val="FF0096"/>
          </a:solidFill>
          <a:ln w="508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10058400" cy="13716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457200"/>
            <a:ext cx="10058400" cy="1371600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  <a:p>
            <a:pPr algn="l">
              <a:defRPr sz="4000" b="1">
                <a:solidFill>
                  <a:srgbClr val="000000"/>
                </a:solidFill>
                <a:latin typeface="Arial Black"/>
              </a:defRPr>
            </a:pPr>
            <a:r>
              <a:t>04 // THE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08461"/>
            <a:ext cx="1005840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400"/>
              </a:spcAft>
              <a:defRPr sz="2000" b="1">
                <a:solidFill>
                  <a:srgbClr val="000000"/>
                </a:solidFill>
                <a:latin typeface="Courier New"/>
              </a:defRPr>
            </a:pPr>
            <a:r>
              <a:rPr dirty="0"/>
              <a:t>PHENOMENON:</a:t>
            </a:r>
          </a:p>
          <a:p>
            <a:pPr lvl="1">
              <a:spcAft>
                <a:spcPts val="1400"/>
              </a:spcAft>
              <a:defRPr sz="2000" b="1">
                <a:solidFill>
                  <a:srgbClr val="0000FF"/>
                </a:solidFill>
                <a:latin typeface="Courier New"/>
              </a:defRPr>
            </a:pPr>
            <a:r>
              <a:rPr dirty="0"/>
              <a:t>● Case A (Small Elastic): Gradient Error 1e-19.</a:t>
            </a:r>
          </a:p>
          <a:p>
            <a:pPr lvl="1">
              <a:spcAft>
                <a:spcPts val="1400"/>
              </a:spcAft>
              <a:defRPr sz="2000" b="1">
                <a:solidFill>
                  <a:srgbClr val="0000FF"/>
                </a:solidFill>
                <a:latin typeface="Courier New"/>
              </a:defRPr>
            </a:pPr>
            <a:r>
              <a:rPr dirty="0"/>
              <a:t>● Case B (Large Plastic): Forward OK, Backward FAILS.</a:t>
            </a:r>
          </a:p>
          <a:p>
            <a:pPr>
              <a:spcAft>
                <a:spcPts val="1400"/>
              </a:spcAft>
              <a:defRPr sz="2000" b="1">
                <a:solidFill>
                  <a:srgbClr val="000000"/>
                </a:solidFill>
                <a:latin typeface="Courier New"/>
              </a:defRPr>
            </a:pPr>
            <a:r>
              <a:rPr dirty="0"/>
              <a:t>ERROR:</a:t>
            </a:r>
          </a:p>
          <a:p>
            <a:pPr lvl="1">
              <a:spcAft>
                <a:spcPts val="1400"/>
              </a:spcAft>
              <a:defRPr sz="2000" b="1">
                <a:solidFill>
                  <a:srgbClr val="0000FF"/>
                </a:solidFill>
                <a:latin typeface="Courier New"/>
              </a:defRPr>
            </a:pPr>
            <a:r>
              <a:rPr dirty="0"/>
              <a:t>● Linear solver failed: DIVERGED_DTOL.</a:t>
            </a:r>
          </a:p>
          <a:p>
            <a:pPr lvl="1">
              <a:spcAft>
                <a:spcPts val="1400"/>
              </a:spcAft>
              <a:defRPr sz="2000" b="1">
                <a:solidFill>
                  <a:srgbClr val="0000FF"/>
                </a:solidFill>
                <a:latin typeface="Courier New"/>
              </a:defRPr>
            </a:pPr>
            <a:r>
              <a:rPr dirty="0"/>
              <a:t>● Adjoint residual explodes.</a:t>
            </a:r>
          </a:p>
          <a:p>
            <a:pPr>
              <a:spcAft>
                <a:spcPts val="1400"/>
              </a:spcAft>
              <a:defRPr sz="2000" b="1">
                <a:solidFill>
                  <a:srgbClr val="000000"/>
                </a:solidFill>
                <a:latin typeface="Courier New"/>
              </a:defRPr>
            </a:pPr>
            <a:r>
              <a:rPr dirty="0"/>
              <a:t>INFERENCE: Forward convergence != Adjoint Well-</a:t>
            </a:r>
            <a:r>
              <a:rPr dirty="0" err="1"/>
              <a:t>posedness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152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58400" y="5029200"/>
            <a:ext cx="3657600" cy="3657600"/>
          </a:xfrm>
          <a:prstGeom prst="ellipse">
            <a:avLst/>
          </a:prstGeom>
          <a:solidFill>
            <a:srgbClr val="0000FF"/>
          </a:solidFill>
          <a:ln w="508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10058400" cy="13716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457200"/>
            <a:ext cx="10058400" cy="1371600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  <a:p>
            <a:pPr algn="l">
              <a:defRPr sz="4000" b="1">
                <a:solidFill>
                  <a:srgbClr val="000000"/>
                </a:solidFill>
                <a:latin typeface="Arial Black"/>
              </a:defRPr>
            </a:pPr>
            <a:r>
              <a:t>05 // DIAGNOSIS (PART 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8170" y="2095500"/>
            <a:ext cx="10058400" cy="4298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00000"/>
                </a:solidFill>
                <a:latin typeface="Courier New"/>
              </a:defRPr>
            </a:pPr>
            <a:r>
              <a:rPr dirty="0"/>
              <a:t>HYPOTHESIS 1: NON-SMOOTHNESS</a:t>
            </a:r>
          </a:p>
          <a:p>
            <a:pPr lvl="1">
              <a:spcAft>
                <a:spcPts val="1400"/>
              </a:spcAft>
              <a:defRPr sz="2000" b="1">
                <a:solidFill>
                  <a:srgbClr val="0000FF"/>
                </a:solidFill>
                <a:latin typeface="Courier New"/>
              </a:defRPr>
            </a:pPr>
            <a:r>
              <a:rPr dirty="0"/>
              <a:t>● Test: </a:t>
            </a:r>
            <a:r>
              <a:rPr dirty="0" err="1"/>
              <a:t>Perzyna</a:t>
            </a:r>
            <a:r>
              <a:rPr dirty="0"/>
              <a:t> </a:t>
            </a:r>
            <a:r>
              <a:rPr dirty="0" err="1"/>
              <a:t>Viscoplasticity</a:t>
            </a:r>
            <a:r>
              <a:rPr dirty="0"/>
              <a:t>.</a:t>
            </a:r>
          </a:p>
          <a:p>
            <a:pPr lvl="1">
              <a:spcAft>
                <a:spcPts val="1400"/>
              </a:spcAft>
              <a:defRPr sz="2000" b="1">
                <a:solidFill>
                  <a:srgbClr val="0000FF"/>
                </a:solidFill>
                <a:latin typeface="Courier New"/>
              </a:defRPr>
            </a:pPr>
            <a:r>
              <a:rPr dirty="0"/>
              <a:t>● Result: FAIL.</a:t>
            </a:r>
          </a:p>
          <a:p>
            <a:pPr>
              <a:spcAft>
                <a:spcPts val="1400"/>
              </a:spcAft>
              <a:defRPr sz="2000" b="1">
                <a:solidFill>
                  <a:srgbClr val="000000"/>
                </a:solidFill>
                <a:latin typeface="Courier New"/>
              </a:defRPr>
            </a:pPr>
            <a:r>
              <a:rPr dirty="0"/>
              <a:t>HYPOTHESIS 2: ZERO HARDENING</a:t>
            </a:r>
          </a:p>
          <a:p>
            <a:pPr lvl="1">
              <a:spcAft>
                <a:spcPts val="1400"/>
              </a:spcAft>
              <a:defRPr sz="2000" b="1">
                <a:solidFill>
                  <a:srgbClr val="0000FF"/>
                </a:solidFill>
                <a:latin typeface="Courier New"/>
              </a:defRPr>
            </a:pPr>
            <a:r>
              <a:rPr dirty="0"/>
              <a:t>● Test: Strong Linear Hardening.</a:t>
            </a:r>
          </a:p>
          <a:p>
            <a:pPr lvl="1">
              <a:spcAft>
                <a:spcPts val="1400"/>
              </a:spcAft>
              <a:defRPr sz="2000" b="1">
                <a:solidFill>
                  <a:srgbClr val="0000FF"/>
                </a:solidFill>
                <a:latin typeface="Courier New"/>
              </a:defRPr>
            </a:pPr>
            <a:r>
              <a:rPr dirty="0"/>
              <a:t>● Result: FAIL.</a:t>
            </a:r>
          </a:p>
          <a:p>
            <a:pPr>
              <a:spcAft>
                <a:spcPts val="1400"/>
              </a:spcAft>
              <a:defRPr sz="2000" b="1">
                <a:solidFill>
                  <a:srgbClr val="000000"/>
                </a:solidFill>
                <a:latin typeface="Courier New"/>
              </a:defRPr>
            </a:pPr>
            <a:r>
              <a:rPr dirty="0"/>
              <a:t>HYPOTHESIS 3: SOLVER LIMITATION</a:t>
            </a:r>
          </a:p>
          <a:p>
            <a:pPr lvl="1">
              <a:spcAft>
                <a:spcPts val="1400"/>
              </a:spcAft>
              <a:defRPr sz="2000" b="1">
                <a:solidFill>
                  <a:srgbClr val="0000FF"/>
                </a:solidFill>
                <a:latin typeface="Courier New"/>
              </a:defRPr>
            </a:pPr>
            <a:r>
              <a:rPr dirty="0"/>
              <a:t>● Test: MUMPS Direct Solver.</a:t>
            </a:r>
          </a:p>
          <a:p>
            <a:pPr lvl="1">
              <a:spcAft>
                <a:spcPts val="1400"/>
              </a:spcAft>
              <a:defRPr sz="2000" b="1">
                <a:solidFill>
                  <a:srgbClr val="0000FF"/>
                </a:solidFill>
                <a:latin typeface="Courier New"/>
              </a:defRPr>
            </a:pPr>
            <a:r>
              <a:rPr dirty="0"/>
              <a:t>● Result: ZERO PIVOT ERROR (Singular Matrix).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152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58400" y="5029200"/>
            <a:ext cx="3657600" cy="3657600"/>
          </a:xfrm>
          <a:prstGeom prst="ellipse">
            <a:avLst/>
          </a:prstGeom>
          <a:solidFill>
            <a:srgbClr val="FF0096"/>
          </a:solidFill>
          <a:ln w="508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10058400" cy="13716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457200"/>
            <a:ext cx="10058400" cy="1371600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  <a:p>
            <a:pPr algn="l">
              <a:defRPr sz="4000" b="1">
                <a:solidFill>
                  <a:srgbClr val="000000"/>
                </a:solidFill>
                <a:latin typeface="Arial Black"/>
              </a:defRPr>
            </a:pPr>
            <a:r>
              <a:t>05 // DIAGNOSIS (PART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400"/>
              </a:spcAft>
              <a:defRPr sz="2000" b="1">
                <a:solidFill>
                  <a:srgbClr val="000000"/>
                </a:solidFill>
                <a:latin typeface="Courier New"/>
              </a:defRPr>
            </a:pPr>
            <a:r>
              <a:t>HYPOTHESIS 4: RIGID BODY MODES [ROOT CAUSE]</a:t>
            </a:r>
          </a:p>
          <a:p>
            <a:pPr lvl="1">
              <a:spcAft>
                <a:spcPts val="1400"/>
              </a:spcAft>
              <a:defRPr sz="2000" b="1">
                <a:solidFill>
                  <a:srgbClr val="0000FF"/>
                </a:solidFill>
                <a:latin typeface="Courier New"/>
              </a:defRPr>
            </a:pPr>
            <a:r>
              <a:t>● Analysis: BCs constrained Uz=0 only. Ux, Uy free.</a:t>
            </a:r>
          </a:p>
          <a:p>
            <a:pPr lvl="1">
              <a:spcAft>
                <a:spcPts val="1400"/>
              </a:spcAft>
              <a:defRPr sz="2000" b="1">
                <a:solidFill>
                  <a:srgbClr val="0000FF"/>
                </a:solidFill>
                <a:latin typeface="Courier New"/>
              </a:defRPr>
            </a:pPr>
            <a:r>
              <a:t>● Forward: Symmetric load avoided rigid modes.</a:t>
            </a:r>
          </a:p>
          <a:p>
            <a:pPr lvl="1">
              <a:spcAft>
                <a:spcPts val="1400"/>
              </a:spcAft>
              <a:defRPr sz="2000" b="1">
                <a:solidFill>
                  <a:srgbClr val="0000FF"/>
                </a:solidFill>
                <a:latin typeface="Courier New"/>
              </a:defRPr>
            </a:pPr>
            <a:r>
              <a:t>● Backward: Gradient noise triggered X/Y rigid body motion.</a:t>
            </a:r>
          </a:p>
          <a:p>
            <a:pPr>
              <a:spcAft>
                <a:spcPts val="1400"/>
              </a:spcAft>
              <a:defRPr sz="2000" b="1">
                <a:solidFill>
                  <a:srgbClr val="000000"/>
                </a:solidFill>
                <a:latin typeface="Courier New"/>
              </a:defRPr>
            </a:pPr>
            <a:endParaRPr/>
          </a:p>
          <a:p>
            <a:pPr>
              <a:spcAft>
                <a:spcPts val="1400"/>
              </a:spcAft>
              <a:defRPr sz="2000" b="1">
                <a:solidFill>
                  <a:srgbClr val="000000"/>
                </a:solidFill>
                <a:latin typeface="Courier New"/>
              </a:defRPr>
            </a:pPr>
            <a:r>
              <a:t>FINAL FIX (STRATEGY 5):</a:t>
            </a:r>
          </a:p>
          <a:p>
            <a:pPr lvl="1">
              <a:spcAft>
                <a:spcPts val="1400"/>
              </a:spcAft>
              <a:defRPr sz="2000" b="1">
                <a:solidFill>
                  <a:srgbClr val="0000FF"/>
                </a:solidFill>
                <a:latin typeface="Courier New"/>
              </a:defRPr>
            </a:pPr>
            <a:r>
              <a:t>● Action: Fully Clamp Bottom Face.</a:t>
            </a:r>
          </a:p>
          <a:p>
            <a:pPr lvl="1">
              <a:spcAft>
                <a:spcPts val="1400"/>
              </a:spcAft>
              <a:defRPr sz="2000" b="1">
                <a:solidFill>
                  <a:srgbClr val="0000FF"/>
                </a:solidFill>
                <a:latin typeface="Courier New"/>
              </a:defRPr>
            </a:pPr>
            <a:r>
              <a:t>● Result: CONVERGED. Gradient Error 1e-16.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152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Explosion 2"/>
          <p:cNvSpPr/>
          <p:nvPr/>
        </p:nvSpPr>
        <p:spPr>
          <a:xfrm rot="900000">
            <a:off x="9144000" y="457200"/>
            <a:ext cx="2743200" cy="2743200"/>
          </a:xfrm>
          <a:prstGeom prst="irregularSeal1">
            <a:avLst/>
          </a:prstGeom>
          <a:solidFill>
            <a:srgbClr val="0000FF"/>
          </a:solidFill>
          <a:ln w="508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10058400" cy="13716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457200"/>
            <a:ext cx="10058400" cy="1371600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  <a:p>
            <a:pPr algn="l">
              <a:defRPr sz="4000" b="1">
                <a:solidFill>
                  <a:srgbClr val="000000"/>
                </a:solidFill>
                <a:latin typeface="Arial Black"/>
              </a:defRPr>
            </a:pPr>
            <a:r>
              <a:t>06 //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400"/>
              </a:spcAft>
              <a:defRPr sz="2000" b="1">
                <a:solidFill>
                  <a:srgbClr val="000000"/>
                </a:solidFill>
                <a:latin typeface="Courier New"/>
              </a:defRPr>
            </a:pPr>
            <a:r>
              <a:t>CORE DISCOVERY:</a:t>
            </a:r>
          </a:p>
          <a:p>
            <a:pPr lvl="1">
              <a:spcAft>
                <a:spcPts val="1400"/>
              </a:spcAft>
              <a:defRPr sz="2000" b="1">
                <a:solidFill>
                  <a:srgbClr val="0000FF"/>
                </a:solidFill>
                <a:latin typeface="Courier New"/>
              </a:defRPr>
            </a:pPr>
            <a:r>
              <a:t>● Adjoint Equation is the strictest test of well-posedness.</a:t>
            </a:r>
          </a:p>
          <a:p>
            <a:pPr lvl="1">
              <a:spcAft>
                <a:spcPts val="1400"/>
              </a:spcAft>
              <a:defRPr sz="2000" b="1">
                <a:solidFill>
                  <a:srgbClr val="0000FF"/>
                </a:solidFill>
                <a:latin typeface="Courier New"/>
              </a:defRPr>
            </a:pPr>
            <a:r>
              <a:t>● AD exposes ALL unconstrained DOFs.</a:t>
            </a:r>
          </a:p>
          <a:p>
            <a:pPr>
              <a:spcAft>
                <a:spcPts val="1400"/>
              </a:spcAft>
              <a:defRPr sz="2000" b="1">
                <a:solidFill>
                  <a:srgbClr val="000000"/>
                </a:solidFill>
                <a:latin typeface="Courier New"/>
              </a:defRPr>
            </a:pPr>
            <a:endParaRPr/>
          </a:p>
          <a:p>
            <a:pPr>
              <a:spcAft>
                <a:spcPts val="1400"/>
              </a:spcAft>
              <a:defRPr sz="2000" b="1">
                <a:solidFill>
                  <a:srgbClr val="000000"/>
                </a:solidFill>
                <a:latin typeface="Courier New"/>
              </a:defRPr>
            </a:pPr>
            <a:r>
              <a:t>STIFFNESS MATRIX SINGULARITY:</a:t>
            </a:r>
          </a:p>
          <a:p>
            <a:pPr lvl="1">
              <a:spcAft>
                <a:spcPts val="1400"/>
              </a:spcAft>
              <a:defRPr sz="2000" b="1">
                <a:solidFill>
                  <a:srgbClr val="0000FF"/>
                </a:solidFill>
                <a:latin typeface="Courier New"/>
              </a:defRPr>
            </a:pPr>
            <a:r>
              <a:t>● Plasticity reduces stiffness -&gt; Exposes Rank Deficiency.</a:t>
            </a:r>
          </a:p>
          <a:p>
            <a:pPr lvl="1">
              <a:spcAft>
                <a:spcPts val="1400"/>
              </a:spcAft>
              <a:defRPr sz="2000" b="1">
                <a:solidFill>
                  <a:srgbClr val="0000FF"/>
                </a:solidFill>
                <a:latin typeface="Courier New"/>
              </a:defRPr>
            </a:pPr>
            <a:r>
              <a:t>● Eigenvalue analysis is mandatory.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152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881090" y="4408371"/>
            <a:ext cx="4154906" cy="4148488"/>
          </a:xfrm>
          <a:prstGeom prst="ellipse">
            <a:avLst/>
          </a:prstGeom>
          <a:solidFill>
            <a:srgbClr val="FF0096"/>
          </a:solidFill>
          <a:ln w="508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10058400" cy="13716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457200"/>
            <a:ext cx="10058400" cy="1371600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  <a:p>
            <a:pPr algn="l">
              <a:defRPr sz="4000" b="1">
                <a:solidFill>
                  <a:srgbClr val="000000"/>
                </a:solidFill>
                <a:latin typeface="Arial Black"/>
              </a:defRPr>
            </a:pPr>
            <a:r>
              <a:t>07 // 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400"/>
              </a:spcAft>
              <a:defRPr sz="2000" b="1">
                <a:solidFill>
                  <a:srgbClr val="000000"/>
                </a:solidFill>
                <a:latin typeface="Courier New"/>
              </a:defRPr>
            </a:pPr>
            <a:r>
              <a:rPr dirty="0"/>
              <a:t>TRIAXIAL DATA INVERSION:</a:t>
            </a:r>
          </a:p>
          <a:p>
            <a:pPr lvl="1">
              <a:spcAft>
                <a:spcPts val="1400"/>
              </a:spcAft>
              <a:defRPr sz="2000" b="1">
                <a:solidFill>
                  <a:srgbClr val="0000FF"/>
                </a:solidFill>
                <a:latin typeface="Courier New"/>
              </a:defRPr>
            </a:pPr>
            <a:r>
              <a:rPr dirty="0"/>
              <a:t>● Inverse material params (E, nu, k, phi).</a:t>
            </a:r>
          </a:p>
          <a:p>
            <a:pPr lvl="1">
              <a:spcAft>
                <a:spcPts val="1400"/>
              </a:spcAft>
              <a:defRPr sz="2000" b="1">
                <a:solidFill>
                  <a:srgbClr val="0000FF"/>
                </a:solidFill>
                <a:latin typeface="Courier New"/>
              </a:defRPr>
            </a:pPr>
            <a:r>
              <a:rPr dirty="0"/>
              <a:t>● Fit simulation to exp curves.</a:t>
            </a:r>
          </a:p>
          <a:p>
            <a:pPr>
              <a:spcAft>
                <a:spcPts val="1400"/>
              </a:spcAft>
              <a:defRPr sz="2000" b="1">
                <a:solidFill>
                  <a:srgbClr val="000000"/>
                </a:solidFill>
                <a:latin typeface="Courier New"/>
              </a:defRPr>
            </a:pPr>
            <a:endParaRPr dirty="0"/>
          </a:p>
          <a:p>
            <a:pPr>
              <a:spcAft>
                <a:spcPts val="1400"/>
              </a:spcAft>
              <a:defRPr sz="2000" b="1">
                <a:solidFill>
                  <a:srgbClr val="000000"/>
                </a:solidFill>
                <a:latin typeface="Courier New"/>
              </a:defRPr>
            </a:pPr>
            <a:r>
              <a:rPr dirty="0"/>
              <a:t>GPU ACCELERATION:</a:t>
            </a:r>
          </a:p>
          <a:p>
            <a:pPr lvl="1">
              <a:spcAft>
                <a:spcPts val="1400"/>
              </a:spcAft>
              <a:defRPr sz="2000" b="1">
                <a:solidFill>
                  <a:srgbClr val="0000FF"/>
                </a:solidFill>
                <a:latin typeface="Courier New"/>
              </a:defRPr>
            </a:pPr>
            <a:r>
              <a:rPr dirty="0"/>
              <a:t>● JAX JIT Compilation.</a:t>
            </a:r>
          </a:p>
          <a:p>
            <a:pPr lvl="1">
              <a:spcAft>
                <a:spcPts val="1400"/>
              </a:spcAft>
              <a:defRPr sz="2000" b="1">
                <a:solidFill>
                  <a:srgbClr val="0000FF"/>
                </a:solidFill>
                <a:latin typeface="Courier New"/>
              </a:defRPr>
            </a:pPr>
            <a:r>
              <a:rPr dirty="0"/>
              <a:t>● Orders of magnitude speedup vs CPU.</a:t>
            </a:r>
          </a:p>
        </p:txBody>
      </p:sp>
      <p:sp>
        <p:nvSpPr>
          <p:cNvPr id="7" name="Rectangle 6"/>
          <p:cNvSpPr/>
          <p:nvPr/>
        </p:nvSpPr>
        <p:spPr>
          <a:xfrm>
            <a:off x="6982499" y="2821164"/>
            <a:ext cx="3927531" cy="2514600"/>
          </a:xfrm>
          <a:prstGeom prst="rect">
            <a:avLst/>
          </a:prstGeom>
          <a:solidFill>
            <a:srgbClr val="FF0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triaxial_stress_st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6825" y="2199852"/>
            <a:ext cx="4921718" cy="2953031"/>
          </a:xfrm>
          <a:prstGeom prst="rect">
            <a:avLst/>
          </a:prstGeom>
          <a:ln w="76200">
            <a:solidFill>
              <a:srgbClr val="000000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663</Words>
  <Application>Microsoft Office PowerPoint</Application>
  <PresentationFormat>宽屏</PresentationFormat>
  <Paragraphs>134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chrisv</cp:lastModifiedBy>
  <cp:revision>2</cp:revision>
  <dcterms:created xsi:type="dcterms:W3CDTF">2013-01-27T09:14:16Z</dcterms:created>
  <dcterms:modified xsi:type="dcterms:W3CDTF">2025-12-28T16:10:55Z</dcterms:modified>
  <cp:category/>
</cp:coreProperties>
</file>